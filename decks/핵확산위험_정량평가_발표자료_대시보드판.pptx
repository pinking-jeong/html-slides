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발표는 대시보드에 실제로 구현되어 화면에 보이는 것만 다룹니다. 방법론 문서·인자 근거·델파이 설계 등 볼트 문서 내용은 제외했습니다. 대시보드 스스로 밝히듯 예시 채점이며 정보판단이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따옴표 안 문장은 모두 대시보드 화면 문구를 그대로 옮긴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콘솔은 교육·시연 도구입니다. 값을 바꿔가며 어떤 축이 결과를 움직이는지 직접 보게 하는 것이 목적입니다.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축 D의 괄호 문구 '위험↑ 아니라 CI↑'가 이 프레임의 핵심 설계입니다. 관측이 나빠져도 점수는 그대로이고 구간만 넓어집니다.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핵분열물질 두 개만 물리 단위(SQ)이고 나머지는 서열 또는 0–1 정규화 지표입니다. 확장억지 신뢰성과 제도·레짐 장벽이 역방향입니다. IAEA는 방법론 문서대로 불이행 판정(기회 축)과 접근거부·MUF(관측 축) 둘로 나뉘어 있습니다. 각 절단점은 콘솔에서 라벨 옆 「기준」 링크를 누르면 바로 펼쳐집니다 — 근거 등급·규칙·모델 반영식이 함께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계수들은 대시보드 코드 안에만 있고 화면에는 표시되지 않습니다. 다만 콘솔이 실제로 하는 계산이므로 '구현된 내용'에 포함됩니다.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8개 프리셋 중 6개가 물질 축에서 포화합니다. 이 사실이 v1에서는 화면 어디에도 표시되지 않아, 일본 슬라이더의 '6'을 실제 재고로 오해할 수 있었습니다. 지금은 실제 SQ가 들어가고 포화 배지가 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장치의 순서가 곧 계산 순서입니다.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콜아웃은 대시보드 방법론 노트 문장을 그대로 옮긴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일본이 좌상단 최소 구역, 북한·파키스탄이 우상단 극점입니다. 등고선 25·50·75가 대시보드의 등급 절단점과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게이트는 '필요조건'을 모형에 직접 새기는 장치입니다. 슬라이더로 역량을 0 근처까지 내리면 실제로 45에서 멈추는 것을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시연하기 좋은 지점입니다. D&amp;D 슬라이더만 끝에서 끝까지 움직여 보이면 점수가 고정된 채 구간만 늘어나는 것이 한눈에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트립와이어의 존재 이유를 가장 잘 보여주는 사례가 일본입니다.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판독이 모두 같은 computeRisk() 한 번의 결과에서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#2의 근거 문장 '일본이 필요≠충분의 반례'가 이 프레임 전체를 규정합니다. 핵분열물질은 필요조건이지 충분조건이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#7만 직접 슬라이더가 없습니다. 대시보드는 이를 D&amp;D·불확실성 지표에 간접적으로 반영하는 방식으로 구현했습니다.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구간 길이가 정보의 질입니다. 일본 ±7이 가장 짧고 이란(타격후) ±23이 가장 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축별 기여 막대와 레이더가 존재하는 이유가 이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북한은 콘솔을 열면 처음 보이는 화면입니다. 기본값이 북한으로 채워져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두 프리셋이 관측 축 설계의 정당성을 보여주는 시연입니다. 역량이 내려갔는데 위험 점수가 내려가지 않는 이유를 설명하기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대시보드 노트가 이를 '검증 관문 통과(LOW)'라고 부릅니다. 역량이 높은 동맹국을 전부 고위험으로 매기는 프레임은 실무에서 쓸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대시보드 PRESET_NOTE에는 8개 중 6개만 노트가 달려 있습니다. 파키스탄·인도는 없으므로 우리 서술임을 표시했습니다.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한국이 8개 프리셋 중 유일하게 트립와이어 0종입니다. 남아공 노트의 '역전지수'는 대시보드에 구현되어 있지 않은 개념이므로 그 점을 함께 말해야 정확합니다.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프리셋 입력값에 트립와이어 조건을 그대로 적용해 계산한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한계를 우리가 덧붙인 것이 아니라 콘솔이 스스로 화면에 적어 둔 것입니다. 그 점이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이 발표에서 가장 절제된 주장입니다. 점수 차이 1~4점은 CI ±7~±23 안에 완전히 묻힙니다. 순위표를 보여줄 때 반드시 함께 말해야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질문을 받겠습니다. 가장 자주 나오는 질문은 '왜 이 지수인가'이고, 정직한 답은 '사례 순위가 맞도록 고른 값이며 아직 추정된 것이 아니다'입니다.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8개 프리셋 전량의 확정값입니다. 콘솔에서 각 프리셋을 눌러 나오는 값과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rcRect t="27021" b="27021"/>
          <a:stretch>
            <a:fillRect/>
          </a:stretch>
        </p:blipFill>
        <p:spPr>
          <a:xfrm>
            <a:off x="0" y="0"/>
            <a:ext cx="12191695" cy="31272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127248"/>
            <a:ext cx="12191695" cy="3730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3127248"/>
            <a:ext cx="12191695" cy="0"/>
          </a:xfrm>
          <a:prstGeom prst="line">
            <a:avLst/>
          </a:prstGeom>
          <a:ln w="38100">
            <a:solidFill>
              <a:srgbClr val="2E7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3529584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PROLIFERATION RISK · QUANTITATIVE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95344"/>
            <a:ext cx="1087495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확산위험 정량평가 콘솔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64608"/>
            <a:ext cx="96926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동기 × 역량 × 기회 × 관측 4축 프레임으로 확산 위험을 계측한다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15개 지표 입력 · 게이트–상호작용–불확실성–트립와이어 집계 · 8개 사례 프리셋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5797296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5961888"/>
            <a:ext cx="9144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yongbyon.html 「확산위험」 탭에 구현된 내용 기준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콘솔이 하는 일을 네 단계로 따라간다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무엇을 재는가 → 어떻게 합치는가 → 무엇이 판별하는가 → 사례에 걸면 어떻게 되는가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2176272"/>
            <a:ext cx="10874959" cy="658368"/>
          </a:xfrm>
          <a:prstGeom prst="rect">
            <a:avLst/>
          </a:prstGeom>
          <a:solidFill>
            <a:srgbClr val="F2F6F7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2322576"/>
            <a:ext cx="384048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295144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콘솔이 재는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295144"/>
            <a:ext cx="703447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4축 직교 프레임 · 15개 입력 지표 · 축 합성과 물질 축 포화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7487" y="2295144"/>
            <a:ext cx="877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4–9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80944"/>
            <a:ext cx="1087495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" y="3127248"/>
            <a:ext cx="384048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099816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어떻게 합치는가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099816"/>
            <a:ext cx="703447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위험식 · 곱셈 상호작용 · 역량 게이트 · 신뢰구간 · 트립와이어 · 판독 5종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3099816"/>
            <a:ext cx="877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10–16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85616"/>
            <a:ext cx="10874959" cy="658368"/>
          </a:xfrm>
          <a:prstGeom prst="rect">
            <a:avLst/>
          </a:prstGeom>
          <a:solidFill>
            <a:srgbClr val="F2F6F7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" y="3931920"/>
            <a:ext cx="384048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904488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무엇이 판별하는가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904488"/>
            <a:ext cx="703447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강한 판별자 핵심 7종과 15개 입력의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3904488"/>
            <a:ext cx="877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17–19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590288"/>
            <a:ext cx="1087495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" y="4736592"/>
            <a:ext cx="384048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4709160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여덟 사례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4709160"/>
            <a:ext cx="703447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프리셋 8개 전량 채점 · 이란 타격 전후 · 일본 검증 관문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7487" y="4709160"/>
            <a:ext cx="877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20–28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394960"/>
            <a:ext cx="10874959" cy="658368"/>
          </a:xfrm>
          <a:prstGeom prst="rect">
            <a:avLst/>
          </a:prstGeom>
          <a:solidFill>
            <a:srgbClr val="F2F6F7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5541264"/>
            <a:ext cx="384048" cy="365760"/>
          </a:xfrm>
          <a:prstGeom prst="round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5513832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한계와 결론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5513832"/>
            <a:ext cx="703447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화면이 밝히는 유보 조건 · 순위가 분해되지 않는다는 사실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7487" y="5513832"/>
            <a:ext cx="877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29–31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핵심 주장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이 콘솔이 화면에서 말하는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세 문장 모두 대시보드 본문에 그대로 적혀 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2121408"/>
            <a:ext cx="3490874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322576"/>
            <a:ext cx="402336" cy="402336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71216"/>
            <a:ext cx="3088538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곱셈이라 한 축이 낮으면 눌린다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“곱셈 상호작용이라 동기 또는 역량이 0에 가까우면 위험이 낮게 눌린다 — 역량 최상이나 동기 최저인 일본이 낮게 나오는 이유.” 실제로 일본은 역량 48에도 복합 위험 14점이다.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0410" y="2121408"/>
            <a:ext cx="3490874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1578" y="2322576"/>
            <a:ext cx="402336" cy="402336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871216"/>
            <a:ext cx="3088538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인자값은 접지, 집계 상수는 잠정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“개별 인자값은 IAEA 유효량(Pu 8 kg · HEU U-235 25 kg) · 농축 문턱 · 제도 범주에 접지한다. 집계 상수(지수·가중·게이트·CI)는 사례 순위 재현용 잠정값으로 경험적 보정(회귀·AHP·델파이)이 필요하다.”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2453" y="2121408"/>
            <a:ext cx="3490874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3621" y="2322576"/>
            <a:ext cx="402336" cy="402336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1" y="2871216"/>
            <a:ext cx="3088538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고위험이 곧 확산은 아니다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“낮은 기저율(~10–15%)로 고위험 판정이 곧 확산은 아니다 — 트리아지 지표.” 그리고 화면 상단에 “예시 채점이며 정보판단이 아니다”가 붙어 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937760"/>
            <a:ext cx="10874959" cy="822960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937760"/>
            <a:ext cx="54864" cy="822960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065776"/>
            <a:ext cx="1041775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이 발표의 범위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대시보드에 구현되어 화면에 보이는 것만 다룬다. 볼트 핵확산_위험_정량평가/의 방법론(121인자·메타지수·검증설계)·인자 근거·수치화 근거 부속서·델파이 설문은 이 발표에 포함하지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pic>
        <p:nvPicPr>
          <p:cNvPr id="4" name="Picture 3" descr="sec1_design.png"/>
          <p:cNvPicPr>
            <a:picLocks noChangeAspect="1"/>
          </p:cNvPicPr>
          <p:nvPr/>
        </p:nvPicPr>
        <p:blipFill>
          <a:blip r:embed="rId2"/>
          <a:srcRect l="26435" r="26435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콘솔이 재는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네 축과 열다섯 개 입력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4224528"/>
            <a:ext cx="2011680" cy="0"/>
          </a:xfrm>
          <a:prstGeom prst="line">
            <a:avLst/>
          </a:prstGeom>
          <a:ln w="27940">
            <a:solidFill>
              <a:srgbClr val="2E7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448056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지표를 조정하거나 사례를 불러오면 하나의 복합 위험으로 합쳐진다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기본값은 북한 — SIPRI 2025와 볼트 procurement_watch를 근거로 채워져 있다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화면 상단이 스스로 밝히듯 예시 채점이며 정보판단이 아니다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1.1 콘솔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왼쪽에서 열다섯 개를 조정하면 오른쪽 다섯 개가 갱신된다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입력은 슬라이더, 판독은 게이지·레이더·트립와이어·축기여·구동인자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2176272"/>
            <a:ext cx="5070750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1590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22576"/>
            <a:ext cx="46684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지표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33472"/>
            <a:ext cx="46684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B7680"/>
                </a:solidFill>
                <a:latin typeface="Consolas"/>
                <a:ea typeface="Consolas"/>
                <a:cs typeface="Consolas"/>
              </a:rPr>
              <a:t>15 indicators · 4 axes  |  라벨 옆 「기준」 링크로 판정 기준 펼침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3054096"/>
            <a:ext cx="109728" cy="10972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80944"/>
            <a:ext cx="44306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동기  DEMAND   —   슬라이더 4개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3419856"/>
            <a:ext cx="109728" cy="109728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46704"/>
            <a:ext cx="44306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역량  SUPPLY   —   슬라이더 5개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3785616"/>
            <a:ext cx="109728" cy="109728"/>
          </a:xfrm>
          <a:prstGeom prst="rect">
            <a:avLst/>
          </a:prstGeom>
          <a:solidFill>
            <a:srgbClr val="7FA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12464"/>
            <a:ext cx="44306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기회  OPPORTUNITY   —   슬라이더 4개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4151376"/>
            <a:ext cx="109728" cy="109728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78224"/>
            <a:ext cx="44306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관측  DETECTION   —   슬라이더 2개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0014" y="2176272"/>
            <a:ext cx="5493313" cy="2615184"/>
          </a:xfrm>
          <a:prstGeom prst="roundRect">
            <a:avLst>
              <a:gd name="adj" fmla="val 5000"/>
            </a:avLst>
          </a:prstGeom>
          <a:solidFill>
            <a:srgbClr val="F2F6F7"/>
          </a:solidFill>
          <a:ln w="1651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1182" y="2322576"/>
            <a:ext cx="509097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복합 위험 판독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470" y="2688336"/>
            <a:ext cx="505440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1.  게이지 + 95% CI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0–100 점수와 구간, 등급 pill(최소·상승·높음·심각)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470" y="3090672"/>
            <a:ext cx="505440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2.  축별 위험 프로파일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레이더 5축 — 동기·핵분열물질·무기화·우회기회·불투명성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9470" y="3493008"/>
            <a:ext cx="505440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3.  트립와이어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6종 이진 판정, 치명 3 · 높음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470" y="3895344"/>
            <a:ext cx="505440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4.  축별 기여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막대 5종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470" y="4297680"/>
            <a:ext cx="505440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5.  주요 구동인자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코어 분해 문장 + 상위 3개 축 + 사례 노트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010912"/>
            <a:ext cx="10874959" cy="822960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010912"/>
            <a:ext cx="54864" cy="822960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138928"/>
            <a:ext cx="1041775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프리셋 8개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북한 · 이란(2025-06) · 이란(타격후) · 파키스탄 · 인도 · 한국 · 일본 · 남아공(1989). 누르면 15개 슬라이더가 한꺼번에 그 사례 값으로 이동하고 판독이 다시 계산된다. 슬라이더를 직접 건드리면 사례 표시가 CUSTOM으로 바뀐다. 각 슬라이더의 판정 기준은 라벨 옆 「기준」 링크로, 15개 전부는 패널 상단 「판정 기준 전체 펼치기」로 볼 수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1.2 4축 직교 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네 축은 서로 다른 질문에 답한다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「4축 직교 프레임」 패널 원문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2176272"/>
            <a:ext cx="2899562" cy="1298448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 w="2032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A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동기 Demand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왜 하려 하는가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7930" y="2679192"/>
            <a:ext cx="219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7386" y="2176272"/>
            <a:ext cx="2899562" cy="1298448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 w="20320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역량 Supply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만들 수 있는가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6949" y="2679192"/>
            <a:ext cx="219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96405" y="2176272"/>
            <a:ext cx="2899562" cy="1298448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 w="20320">
            <a:solidFill>
              <a:srgbClr val="7FA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A99B"/>
                </a:solidFill>
                <a:latin typeface="맑은 고딕"/>
                <a:ea typeface="맑은 고딕"/>
                <a:cs typeface="맑은 고딕"/>
              </a:rPr>
              <a:t>C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기회 Opportunity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통제를 뚫을 수 있는가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6863" y="2176272"/>
            <a:ext cx="1426464" cy="129844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복합 위험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 – 100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14255" y="2825496"/>
            <a:ext cx="256032" cy="0"/>
          </a:xfrm>
          <a:prstGeom prst="line">
            <a:avLst/>
          </a:prstGeom>
          <a:ln w="25400">
            <a:solidFill>
              <a:srgbClr val="1B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3749040"/>
            <a:ext cx="10874959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C48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D  관측 Detection </a:t>
            </a: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— 진실을 보고 있는가.  점수를 올리지 않고 </a:t>
            </a:r>
            <a:r>
              <a:rPr sz="13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신뢰구간을 넓힌다</a:t>
            </a: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108149" y="3511296"/>
            <a:ext cx="0" cy="237744"/>
          </a:xfrm>
          <a:prstGeom prst="line">
            <a:avLst/>
          </a:prstGeom>
          <a:ln w="13970">
            <a:solidFill>
              <a:srgbClr val="C4813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227168" y="3511296"/>
            <a:ext cx="0" cy="237744"/>
          </a:xfrm>
          <a:prstGeom prst="line">
            <a:avLst/>
          </a:prstGeom>
          <a:ln w="13970">
            <a:solidFill>
              <a:srgbClr val="C4813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46186" y="3511296"/>
            <a:ext cx="0" cy="237744"/>
          </a:xfrm>
          <a:prstGeom prst="line">
            <a:avLst/>
          </a:prstGeom>
          <a:ln w="13970">
            <a:solidFill>
              <a:srgbClr val="C4813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820095" y="3511296"/>
            <a:ext cx="0" cy="237744"/>
          </a:xfrm>
          <a:prstGeom prst="line">
            <a:avLst/>
          </a:prstGeom>
          <a:ln w="13970">
            <a:solidFill>
              <a:srgbClr val="C4813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8368" y="4645152"/>
          <a:ext cx="1087495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851"/>
                <a:gridCol w="1890201"/>
                <a:gridCol w="2331248"/>
                <a:gridCol w="6174658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요소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 Demand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왜 하려 하는가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적대국·라이벌·실존위협·확장억지·국내정치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역량 Supply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만들 수 있는가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핵연료주기·핵분열물질·무기화·투발·산업기반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기회 Opportunity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통제를 뚫을 수 있는가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조달·확산금융·제도장벽·외부공급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관측 Detection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진실을 보고 있는가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4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OSINT 시그니처·평가품질 (위험↑ 아니라 CI↑)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1.3 입력 지표 15종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슬라이더 하나하나가 무엇이고 어떤 범위를 갖는가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물질 축 둘은 구간별 눈금 — 포화점이 트랙 70% 지점, 최대 10,000 SQ까지 넣는다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048256"/>
          <a:ext cx="10874957" cy="4169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953"/>
                <a:gridCol w="5620765"/>
                <a:gridCol w="1832858"/>
                <a:gridCol w="1527381"/>
              </a:tblGrid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 DEMAND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핵보유 적대국 근접·적대도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 라이벌관계 강도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0–3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실존적 위협 이력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확장억지 신뢰성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0–3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역방향 ↓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역량 SUPPLY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 Pu 재고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0–10,000 SQ (구간별)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HEU 재고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0–10,000 SQ (구간별)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농축 수준 (LEU→무기급)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핵연료주기 완결성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0–7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무기화·투발 성숙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기회 OPPORTUNITY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조달 회피 (MTD+SSEX+HDCC)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0–1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민감 핵지원 수령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제도·레짐 장벽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0–1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역방향 ↓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IAEA 불이행 판정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관측 DETECTION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IAEA 접근거부 · MUF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0–3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D&amp;D·불확실성 (CI 폭)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0–1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1.4 축 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열다섯 개 입력이 세 축으로 어떻게 접히는가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computeRisk()의 계수 — 동기·역량은 가중합, 기회는 가감식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axis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946" y="1993392"/>
            <a:ext cx="7599803" cy="2944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084064"/>
            <a:ext cx="10874959" cy="859536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084064"/>
            <a:ext cx="54864" cy="859536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12080"/>
            <a:ext cx="104177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읽는 법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동기는 세 인자의 가중합에 확장억지가 곱셈 감쇠로 붙어, 확장억지가 최대면 45%까지 깎인다. 역량은 다섯 인자의 가중합이며 핵분열물질 둘이 0.52로 절반을 넘는다. 기회는 가감식이며, 제도장벽은 IAEA 불이행 판정으로 무력화된 뒤의 실효값이 0.55만큼 깎는다.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1.5 물질 축 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재고가 아무리 늘어도 어느 지점부터는 같은 값이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문턱형 정규화의 귀결 — 화면에 ‘포화’ 배지로 표시된다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4" y="1993392"/>
            <a:ext cx="5648027" cy="2999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138928"/>
            <a:ext cx="10874959" cy="859536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138928"/>
            <a:ext cx="54864" cy="859536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66944"/>
            <a:ext cx="104177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설계이지 오류가 아니다 — 다만 반드시 말해야 한다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포화 자체는 타당하다. 무기용 물질은 1 SQ 돌파 문턱이 본질이기 때문이다. 다만 두 귀결을 함께 말해야 한다. ① 일본(6,000 SQ)과 북한(5 SQ)의 Pu가 동일하게 처리된다. ② 이란 타격으로 HEU가 줄어도 역량 점수는 움직이지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4" name="Picture 3" descr="sec4_aggregate.png"/>
          <p:cNvPicPr>
            <a:picLocks noChangeAspect="1"/>
          </p:cNvPicPr>
          <p:nvPr/>
        </p:nvPicPr>
        <p:blipFill>
          <a:blip r:embed="rId2"/>
          <a:srcRect l="26435" r="26435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어떻게 합치는가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게이트 · 상호작용 · 불확실성 · 트립와이어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4224528"/>
            <a:ext cx="2011680" cy="0"/>
          </a:xfrm>
          <a:prstGeom prst="line">
            <a:avLst/>
          </a:prstGeom>
          <a:ln w="27940">
            <a:solidFill>
              <a:srgbClr val="2E7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448056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“지표를 조정하거나 사례를 불러오면 게이트·상호작용·불확실성·트립와이어가 하나의 복합 위험으로 합쳐진다”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네 장치가 각각 다른 일을 한다 — 상한, 결합, 구간, 점등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집계 상수는 사례 순위를 재현하도록 맞춘 잠정값이다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2.1 집계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네 장치, 각각 다른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소개 문장에 나오는 네 이름을 순서대로 편 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2212848"/>
            <a:ext cx="2513000" cy="18836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159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2350008"/>
            <a:ext cx="310896" cy="310896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68296"/>
            <a:ext cx="18180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2"/>
            <a:ext cx="2183816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필요조건 미달이면
상한을 씌운다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639312"/>
            <a:ext cx="2256968" cy="310896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Cn &lt; 0.15 → 45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8800" y="3154680"/>
            <a:ext cx="219456" cy="0"/>
          </a:xfrm>
          <a:prstGeom prst="line">
            <a:avLst/>
          </a:prstGeom>
          <a:ln w="20320">
            <a:solidFill>
              <a:srgbClr val="6B76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45688" y="2212848"/>
            <a:ext cx="2513000" cy="18836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1590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91992" y="2350008"/>
            <a:ext cx="310896" cy="310896"/>
          </a:xfrm>
          <a:prstGeom prst="ellipse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4328" y="2368296"/>
            <a:ext cx="18180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상호작용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0280" y="2816352"/>
            <a:ext cx="2183816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곱셈으로 결합해
한 축이 0이면 눌린다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3704" y="3639312"/>
            <a:ext cx="2256968" cy="310896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D^0.65 · C^0.55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6120" y="3154680"/>
            <a:ext cx="219456" cy="0"/>
          </a:xfrm>
          <a:prstGeom prst="line">
            <a:avLst/>
          </a:prstGeom>
          <a:ln w="20320">
            <a:solidFill>
              <a:srgbClr val="6B76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33008" y="2212848"/>
            <a:ext cx="2513000" cy="18836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1590">
            <a:solidFill>
              <a:srgbClr val="7FA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9312" y="2350008"/>
            <a:ext cx="310896" cy="310896"/>
          </a:xfrm>
          <a:prstGeom prst="ellipse">
            <a:avLst/>
          </a:prstGeom>
          <a:solidFill>
            <a:srgbClr val="7FA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648" y="2368296"/>
            <a:ext cx="18180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7FA99B"/>
                </a:solidFill>
                <a:latin typeface="맑은 고딕"/>
                <a:ea typeface="맑은 고딕"/>
                <a:cs typeface="맑은 고딕"/>
              </a:rPr>
              <a:t>불확실성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7600" y="2816352"/>
            <a:ext cx="2183816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관측 품질을
구간폭으로 옮긴다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1024" y="3639312"/>
            <a:ext cx="2256968" cy="310896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 i="0">
                <a:solidFill>
                  <a:srgbClr val="7FA99B"/>
                </a:solidFill>
                <a:latin typeface="맑은 고딕"/>
                <a:ea typeface="맑은 고딕"/>
                <a:cs typeface="맑은 고딕"/>
              </a:rPr>
              <a:t>± (4 + 22·D&amp;D)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3439" y="3154680"/>
            <a:ext cx="219456" cy="0"/>
          </a:xfrm>
          <a:prstGeom prst="line">
            <a:avLst/>
          </a:prstGeom>
          <a:ln w="20320">
            <a:solidFill>
              <a:srgbClr val="6B76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20327" y="2212848"/>
            <a:ext cx="2513000" cy="18836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1590">
            <a:solidFill>
              <a:srgbClr val="C48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66631" y="2350008"/>
            <a:ext cx="310896" cy="310896"/>
          </a:xfrm>
          <a:prstGeom prst="ellipse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8967" y="2368296"/>
            <a:ext cx="18180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트립와이어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4919" y="2816352"/>
            <a:ext cx="2183816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점수와 별개로
개별 조건을 점등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8343" y="3639312"/>
            <a:ext cx="2256968" cy="310896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6종 이진 판정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58368" y="4334256"/>
          <a:ext cx="10874957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000"/>
                <a:gridCol w="3176954"/>
                <a:gridCol w="6415003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장치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구현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필요조건 미달이면 상한을 씌운다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역량 Cn &lt; 0.15 → 위험 상한 45, 판독에 ‘게이트 상한’ 표기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상호작용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곱셈으로 결합해 축 상쇄를 막는다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동기^0.65 · 역량^0.55, 기회는 ×(0.72 + 0.28·기회)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불확실성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관측 품질을 구간폭으로 옮긴다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± (4 + 22 · D&amp;D) — 점추정은 건드리지 않는다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트립와이어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점수와 별개로 개별 조건을 점등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6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6종 이진 판정 — 치명 3 · 높음 3, 없으면 CLEAR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2.2 위험식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위험 = 100 · (동기^0.65 · 역량^0.55) · (0.72 + 0.28 · 기회)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캡션에 그대로 적혀 있는 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249424"/>
            <a:ext cx="111856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100 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35808"/>
            <a:ext cx="111856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6935" y="2249424"/>
            <a:ext cx="2516776" cy="658368"/>
          </a:xfrm>
          <a:prstGeom prst="roundRect">
            <a:avLst>
              <a:gd name="adj" fmla="val 16000"/>
            </a:avLst>
          </a:prstGeom>
          <a:solidFill>
            <a:srgbClr val="F2F6F7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동기^0.65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6935" y="3035808"/>
            <a:ext cx="25167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지수 &lt; 1 → 높은 동기의
한계 기여를 체감시킨다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3711" y="2249424"/>
            <a:ext cx="5282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1923" y="2249424"/>
            <a:ext cx="2516776" cy="658368"/>
          </a:xfrm>
          <a:prstGeom prst="roundRect">
            <a:avLst>
              <a:gd name="adj" fmla="val 16000"/>
            </a:avLst>
          </a:prstGeom>
          <a:solidFill>
            <a:srgbClr val="F2F6F7"/>
          </a:solidFill>
          <a:ln w="19050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역량^0.55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1923" y="3035808"/>
            <a:ext cx="25167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동기보다 더 강한 체감
— 물질은 문턱이 중요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8699" y="2249424"/>
            <a:ext cx="5282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6911" y="2249424"/>
            <a:ext cx="3666414" cy="658368"/>
          </a:xfrm>
          <a:prstGeom prst="roundRect">
            <a:avLst>
              <a:gd name="adj" fmla="val 16000"/>
            </a:avLst>
          </a:prstGeom>
          <a:solidFill>
            <a:srgbClr val="F2F6F7"/>
          </a:solidFill>
          <a:ln w="19050">
            <a:solidFill>
              <a:srgbClr val="7FA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 i="0">
                <a:solidFill>
                  <a:srgbClr val="7FA99B"/>
                </a:solidFill>
                <a:latin typeface="맑은 고딕"/>
                <a:ea typeface="맑은 고딕"/>
                <a:cs typeface="맑은 고딕"/>
              </a:rPr>
              <a:t>(0.72 + 0.28 × 기회)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6911" y="3035808"/>
            <a:ext cx="366641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기회는 코어를 만들지 않고
±28%만 조절한다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986784"/>
            <a:ext cx="10874959" cy="841248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86784"/>
            <a:ext cx="54864" cy="841248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14800"/>
            <a:ext cx="104177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대시보드가 붙인 해설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“곱셈 상호작용이라 동기 또는 역량이 0에 가까우면 위험이 낮게 눌린다(역량 최상이나 동기 최저인 일본이 낮게 나오는 이유).” — 지수가 1보다 작으므로 높은 값에서의 추가 상승은 체감되고, 기회는 코어를 만들지 않고 ±28%만 조절한다.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74336"/>
            <a:ext cx="10874959" cy="694944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974336"/>
            <a:ext cx="54864" cy="694944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02352"/>
            <a:ext cx="104177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0.65와 0.55의 출처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“집계 상수(지수·가중·게이트·CI)는 사례 순위 재현용 잠정값으로 경험적 보정(회귀·AHP·델파이)이 필요하다.”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2.3 곱셈 상호작용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한 축이 낮으면 다른 축이 최고여도 눌린다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기회를 0.5로 고정했을 때의 동기–역량 지형과 프리셋 8개의 위치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28" y="1975104"/>
            <a:ext cx="533383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2.4 역량 게이트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핵분열물질 역량이 문턱 미만이면 상한이 걸린다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Cn &lt; 0.15 → 위험 상한 45, 그리고 판독에 ‘게이트 상한’이 표시된다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670" y="2048256"/>
            <a:ext cx="5461870" cy="3108960"/>
          </a:xfrm>
          <a:prstGeom prst="rect">
            <a:avLst/>
          </a:prstGeom>
        </p:spPr>
      </p:pic>
      <p:pic>
        <p:nvPicPr>
          <p:cNvPr id="9" name="Picture 8" descr="concept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931" y="2084832"/>
            <a:ext cx="2162556" cy="1207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7091" y="3419856"/>
            <a:ext cx="380623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0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동기가 최고여도 물질 역량이 문턱 아래면 45를 넘지 못한다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게이트가 걸리면 CI 표기 옆에 ‘게이트 상한’이 붙어, 점수가 모형이 아니라 규칙으로 눌렸음을 알린다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프리셋 8개 중 게이트가 발동하는 사례는 없다 — 모두 문턱을 넘는다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2.5 신뢰구간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관측이 나빠지면 점수가 아니라 구간이 움직인다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± (4 + 22 · D&amp;D·불확실성) — 축 D가 판독에 반영되는 유일한 경로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688" y="2011680"/>
            <a:ext cx="5790336" cy="3291840"/>
          </a:xfrm>
          <a:prstGeom prst="rect">
            <a:avLst/>
          </a:prstGeom>
        </p:spPr>
      </p:pic>
      <p:pic>
        <p:nvPicPr>
          <p:cNvPr id="9" name="Picture 8" descr="concept_uncertain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734" y="2048256"/>
            <a:ext cx="245745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9592" y="3566160"/>
            <a:ext cx="4023735" cy="2724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D&amp;D 슬라이더는 게이지 위 ‘95% CI’ 숫자만 바꾼다 — 바늘은 움직이지 않는다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D&amp;D = 0이면 ±4, 최대면 ±26까지 벌어진다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레이더의 ‘불투명성’ 축은 D&amp;D와 IAEA 불이행의 평균으로 따로 표시된다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2.6 트립와이어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총점과 별개로 반드시 알려야 할 여섯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이진 판정이라 점수에 묻히지 않는다 — 하나도 없으면 CLEAR로 표시된다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103120"/>
          <a:ext cx="10874957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48"/>
                <a:gridCol w="4103758"/>
                <a:gridCol w="4488485"/>
                <a:gridCol w="1410666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발동 기준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함의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핵분열물질 ≥ 1 SQ · 돌파 가능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 Pu ≥ 1 SQ 또는 HEU ≥ 1 SQ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12개월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치명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무기급 농축 (&gt; 90%)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농축 수준 = 3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의도신호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IAEA 접근거부 · 검증불능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IAEA 불이행 ≥ 2.5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무기화·투발 성숙 (시험 + 투발)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무기화 성숙 = 3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배치가능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조달 회피망 활성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조달 회피 ≥ 0.60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확장억지 부재 + 핵적대국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확장억지 ≤ 0.5 이면서 적대국 ≥ 2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동기압력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5089185"/>
            <a:ext cx="10874959" cy="786384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089185"/>
            <a:ext cx="54864" cy="786384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17201"/>
            <a:ext cx="104177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왜 점수와 분리하는가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일본은 복합 위험 14점으로 최소 등급이지만 트립와이어 1종(핵분열물질 ≥1 SQ · 돌파 가능)이 점등한다 — 분리 Pu를 보유하기 때문이다. 총점만 보면 이 사실이 사라진다. 낮은 위험과 ‘아무 일도 없음’은 다르다.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2.7 판독 다섯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같은 계산을 다섯 가지로 나눠 보여준다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하나의 숫자로 뭉치지 않고, 어디서 왔는지 되짚을 수 있게 분해한다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2121408"/>
            <a:ext cx="10874959" cy="694944"/>
          </a:xfrm>
          <a:prstGeom prst="rect">
            <a:avLst/>
          </a:prstGeom>
          <a:solidFill>
            <a:srgbClr val="F2F6F7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21408"/>
            <a:ext cx="64008" cy="69494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게이지 + 95%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194560"/>
            <a:ext cx="81317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0–100 바늘과 구간 호. 25·50·75에서 최소/상승/높음/심각으로 나뉘고 등급 pill이 함께 뜬다. 게이트가 걸리면 ‘게이트 상한’이 붙는다.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44368"/>
            <a:ext cx="1087495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944368"/>
            <a:ext cx="64008" cy="694944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35808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축별 위험 프로파일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017520"/>
            <a:ext cx="81317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레이더 5축 — 동기 · 핵분열물질 · 무기화·투발 · 우회기회 · 불투명성. 총점이 같아도 모양이 다르면 성격이 다른 사례다.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767328"/>
            <a:ext cx="10874959" cy="694944"/>
          </a:xfrm>
          <a:prstGeom prst="rect">
            <a:avLst/>
          </a:prstGeom>
          <a:solidFill>
            <a:srgbClr val="F2F6F7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67328"/>
            <a:ext cx="64008" cy="694944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58768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트립와이어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3840480"/>
            <a:ext cx="81317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6종 이진 판정. 치명은 붉게, 높음은 주황으로, 없으면 CLEAR.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590288"/>
            <a:ext cx="1087495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590288"/>
            <a:ext cx="64008" cy="694944"/>
          </a:xfrm>
          <a:prstGeom prst="rect">
            <a:avLst/>
          </a:prstGeom>
          <a:solidFill>
            <a:srgbClr val="7FA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681728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FA99B"/>
                </a:solidFill>
                <a:latin typeface="맑은 고딕"/>
                <a:ea typeface="맑은 고딕"/>
                <a:cs typeface="맑은 고딕"/>
              </a:rPr>
              <a:t>축별 기여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4663440"/>
            <a:ext cx="81317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막대 5종. 어느 축이 점수를 끌어올렸는지 길이로 비교한다.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413248"/>
            <a:ext cx="10874959" cy="694944"/>
          </a:xfrm>
          <a:prstGeom prst="rect">
            <a:avLst/>
          </a:prstGeom>
          <a:solidFill>
            <a:srgbClr val="F2F6F7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413248"/>
            <a:ext cx="64008" cy="694944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504688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주요 구동인자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5486400"/>
            <a:ext cx="81317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“동기 D × 역량 C → 상호작용 코어, 기회 O로 조정”과 상위 3개 축을 문장으로 요약하고, 프리셋이면 사례 노트를 덧붙인다.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pic>
        <p:nvPicPr>
          <p:cNvPr id="4" name="Picture 3" descr="sec3_hierarchy.png"/>
          <p:cNvPicPr>
            <a:picLocks noChangeAspect="1"/>
          </p:cNvPicPr>
          <p:nvPr/>
        </p:nvPicPr>
        <p:blipFill>
          <a:blip r:embed="rId2"/>
          <a:srcRect l="26435" r="26435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무엇이 판별하는가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강한 판별자 · 핵심 7종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4224528"/>
            <a:ext cx="2011680" cy="0"/>
          </a:xfrm>
          <a:prstGeom prst="line">
            <a:avLst/>
          </a:prstGeom>
          <a:ln w="27940">
            <a:solidFill>
              <a:srgbClr val="2E7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448056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대시보드 우측 하단 패널이 일곱 개를 근거와 함께 제시한다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이 일곱이 콘솔의 15개 입력으로 구현되어 있다 — 각 절단점은 「기준」 링크로 펼친다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판별력은 값의 크기가 아니라 획득국과 억제국을 가르는 능력이다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3.1 강한 판별자 핵심 7종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무엇이 실제로 획득국과 억제국을 가르는가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「강한 판별자 · 핵심 7」 패널 원문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121408"/>
          <a:ext cx="10874958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936"/>
                <a:gridCol w="3739416"/>
                <a:gridCol w="6620606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강한 판별자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— 왜 판별하는가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핵보유 적대국 근접·적대도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획득국 ~95%가 ≥2; 억제국 ~80%가 ≤1 또는 확장억지로 상쇄 — 최강 단일 판별자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#2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 Pu / HEU 재고 (&gt;1 SQ)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필요조건이나 충분조건은 아니다. 일본이 “필요≠충분”의 결정적 반례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IAEA 불이행·시설 접근거부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은밀 프로그램이 남기는 특이신호이며 이사회 판정은 공개기록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#4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확장억지 신뢰성 (역방향)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선진 억제국 전원이 핵우산 수혜 → 확산동기 자체를 제거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조달망 회피 시그니처(MTD+SSEX+HDCC)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 접근거부와 삼각결합할 때 판별력이 크게 오른다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#6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 라이벌관계 강도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인도·파키스탄형 장기 분쟁이 확산동기의 전형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미신고 시설 OSINT 탐지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8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무료 위성으로 관측 가능 — 단 개도지역 오탐 15–20%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3.2 판별자와 입력의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일곱 개가 열다섯 개 슬라이더에 어떻게 들어가 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#3은 방법론대로 두 슬라이더로 나뉘고, #5는 세 지표를 하나로 합친 복합값이다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103120"/>
          <a:ext cx="1087495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936"/>
                <a:gridCol w="3494208"/>
                <a:gridCol w="5639775"/>
                <a:gridCol w="1226038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강한 판별자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대응하는 입력 슬라이더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핵보유 적대국 근접·적대도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핵보유 적대국 근접·적대도 (0–3)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#2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 Pu / HEU 재고 (&gt;1 SQ)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 Pu 재고 (0–8 SQ) · HEU 재고 (0–15 SQ)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역량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IAEA 불이행·시설 접근거부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IAEA 불이행 판정 (0–3) · IAEA 접근거부·MUF (0–3)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기회 + 관측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#4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확장억지 신뢰성 (역방향)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확장억지 신뢰성 (0–3, 역방향)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조달망 회피 시그니처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조달 회피 (MTD+SSEX+HDCC, 0–1)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#6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 라이벌관계 강도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 라이벌관계 강도 (0–3)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미신고 시설 OSINT 탐지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 직접 슬라이더 없음 (D&amp;D·불확실성에 간접 반영)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관측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5376672"/>
            <a:ext cx="10874959" cy="914400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376672"/>
            <a:ext cx="54864" cy="914400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504688"/>
            <a:ext cx="10417759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나머지 여섯 슬라이더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농축 수준 · 핵연료주기 완결성 · 무기화·투발 성숙 · 민감 핵지원 수령 · 제도·레짐 장벽 · 실존적 위협 이력. 강한 판별자 목록에는 없지만 축 합성에 가중치를 갖고 들어간다 — 판별자 7종이 코어이고 이들은 그 코어를 조정한다.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4" name="Picture 3" descr="sec5_cases.png"/>
          <p:cNvPicPr>
            <a:picLocks noChangeAspect="1"/>
          </p:cNvPicPr>
          <p:nvPr/>
        </p:nvPicPr>
        <p:blipFill>
          <a:blip r:embed="rId2"/>
          <a:srcRect l="26435" r="26435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여덟 사례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프리셋을 눌렀을 때 무엇이 나오는가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4224528"/>
            <a:ext cx="2011680" cy="0"/>
          </a:xfrm>
          <a:prstGeom prst="line">
            <a:avLst/>
          </a:prstGeom>
          <a:ln w="27940">
            <a:solidFill>
              <a:srgbClr val="2E7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448056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프리셋 8개를 같은 식으로 채점한 결과 — 값은 콘솔이 계산한 그대로다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총점이 비슷해도 축 구성과 트립와이어가 다르면 성격이 다른 사례다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3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예시 채점이며 정보판단이나 정책결정의 근거가 아니다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4.1 사례 전경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여덟 사례, 하나의 척도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막대는 점추정, 가로선은 95% 신뢰구간 — 구간의 길이가 관측 품질을 말한다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92" y="2011680"/>
            <a:ext cx="7540722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05838" y="2121408"/>
            <a:ext cx="2827489" cy="416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18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등급 절단점 25 · 50 · 75 — 최소 / 상승 / 높음 / 심각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18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8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이란(타격후)는 점추정이 1점 높을 뿐이지만 구간이 훨씬 길다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18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한국·일본만 25 아래에 있다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18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남아공은 1989년 값이다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4.2 축별 분해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같은 순위도 다른 이유에서 나온다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세 축 값과 최종 복합 위험을 함께 본다 — 어느 축이 순위를 만들었는가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axe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32" y="2084832"/>
            <a:ext cx="7119031" cy="3291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504688"/>
            <a:ext cx="10874959" cy="841248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504688"/>
            <a:ext cx="54864" cy="841248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632704"/>
            <a:ext cx="104177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인도와 이란은 총점이 비슷하지만 구성이 정반대다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인도 70점은 역량 76이 끌어올린 값이고, 이란(2025-06) 70점은 동기 96가 끌어올린 값이다(역량은 60). 레이더 모양이 다른 것이 이 차이를 보여준다.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4.3 사례 · 북한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전 축이 최고치이며 여섯 트립와이어가 모두 점등한다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기본값 — 실데이터(SIPRI 2025·볼트 procurement_watch): 전 축 최고 + 6개 트립와이어 → 확정 획득국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cas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97800"/>
            <a:ext cx="5654979" cy="25721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39595" y="2084832"/>
            <a:ext cx="1533708" cy="896112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99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복합 위험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9607" y="2084832"/>
            <a:ext cx="1533708" cy="896112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±19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신뢰구간 반폭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99619" y="2084832"/>
            <a:ext cx="1533708" cy="896112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6종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트립와이어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595" y="3090672"/>
            <a:ext cx="48937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판정 · 심각   |   D 100 · C 98 · O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9595" y="3419856"/>
            <a:ext cx="4893732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동기·역량·기회 전 축이 최고치다. 콘솔의 기본 프리셋이자 상한 앵커다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대시보드 사례 노트: “전 축 최고 + 6개 트립와이어 → 확정 획득국”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구간이 ±19로 넓다 — D&amp;D·불확실성이 0.70으로 높게 설정되어 있기 때문이다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기회 축의 근거로 볼트 procurement_watch가 명시되어 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4.4 사례 · 이란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타격 전과 후를 나란히 두면 무엇이 보이는가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프리셋 두 개 — 이란(2025-06)과 이란(타격후)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iran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34" y="2048256"/>
            <a:ext cx="6267226" cy="30540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266944"/>
            <a:ext cx="10874959" cy="969264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266944"/>
            <a:ext cx="54864" cy="969264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394960"/>
            <a:ext cx="10417759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대시보드 사례 노트가 말하는 것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“2025-06 타격 후: 역량↓이나 IAEA 검증상실로 CI 폭증 — “덜 검증됐을 뿐 더 안전한 게 아님””  수치로는 역량 60→56, 동기 96→100, D&amp;D 0.6→0.85로 구간이 ±17→±23. 점추정은 70→70로 사실상 불변이다.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4.5 사례 · 일본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역량이 충분한 나라를 낮게 매길 수 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사례 노트: 역량 최상(Pu 48t·완전주기)이나 동기 최저(확장억지)+기회 0 → 검증 관문 통과(LOW)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japan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56" y="2066544"/>
            <a:ext cx="5538399" cy="3017520"/>
          </a:xfrm>
          <a:prstGeom prst="rect">
            <a:avLst/>
          </a:prstGeom>
        </p:spPr>
      </p:pic>
      <p:pic>
        <p:nvPicPr>
          <p:cNvPr id="9" name="Picture 8" descr="ch_cas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997" y="1993392"/>
            <a:ext cx="2894925" cy="13167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9592" y="3474720"/>
            <a:ext cx="4023735" cy="2816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8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일본 14점. 역량 48은 북한 98의 절반 수준인데 위험은 1/7이다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동기 15와 기회 0이 곱셈으로 눌렀다 — 확장억지 3.0과 제도 장벽 0.95 때문이다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그럼에도 핵분열물질 트립와이어는 치명 등급으로 점등한다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4.6 사례 · 파키스탄 · 인도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획득 확정국 둘 — 총점은 가깝고 성격은 다르다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이 두 프리셋에는 대시보드가 사례 노트를 붙이지 않았다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048256"/>
            <a:ext cx="532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파키스탄</a:t>
            </a:r>
          </a:p>
        </p:txBody>
      </p:sp>
      <p:pic>
        <p:nvPicPr>
          <p:cNvPr id="9" name="Picture 8" descr="ch_cas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90" y="2359152"/>
            <a:ext cx="3900107" cy="1773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06240"/>
            <a:ext cx="532775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90 ± 15   ·   심각   ·   트립와이어 4종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라이벌·역량 모두 최상 — 강한 판별자 #6(지속 라이벌관계)의 전형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B7680"/>
                </a:solidFill>
                <a:latin typeface="Consolas"/>
                <a:ea typeface="Consolas"/>
                <a:cs typeface="Consolas"/>
              </a:rPr>
              <a:t>민감 핵지원 0.6 · D&amp;D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576" y="2048256"/>
            <a:ext cx="532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인도</a:t>
            </a:r>
          </a:p>
        </p:txBody>
      </p:sp>
      <p:pic>
        <p:nvPicPr>
          <p:cNvPr id="12" name="Picture 11" descr="ch_cas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398" y="2359152"/>
            <a:ext cx="3900107" cy="17739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05576" y="4206240"/>
            <a:ext cx="532775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70 ± 11   ·   높음   ·   트립와이어 3종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획득 확정국이나 D&amp;D가 0.30으로 낮아 8개 사례 중 신뢰구간이 두 번째로 짧다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B7680"/>
                </a:solidFill>
                <a:latin typeface="Consolas"/>
                <a:ea typeface="Consolas"/>
                <a:cs typeface="Consolas"/>
              </a:rPr>
              <a:t>민감 핵지원 0.3 · D&amp;D 0.3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632704"/>
            <a:ext cx="10874959" cy="530352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632704"/>
            <a:ext cx="54864" cy="530352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760720"/>
            <a:ext cx="1041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1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표기 원칙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위 두 줄 설명은 대시보드 노트가 아니라 프리셋 값에서 우리가 읽어낸 것이다.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4.7 사례 · 한국 · 남아공(1989)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관문 아래의 사례와 롤백 직전의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사례 노트가 붙어 있는 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048256"/>
            <a:ext cx="532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pic>
        <p:nvPicPr>
          <p:cNvPr id="9" name="Picture 8" descr="ch_cas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90" y="2359152"/>
            <a:ext cx="3900107" cy="1773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06240"/>
            <a:ext cx="53277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17 ± 11   ·   최소   ·   트립와이어 0종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저역량 잠재헤저 — 신뢰성 있는 확장억지가 위험 억제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동기는 37로 낮지 않다 — 확장억지 3.0이 그 동기를 눌렀다. 8개 중 유일하게 트립와이어가 하나도 점등하지 않는다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576" y="2048256"/>
            <a:ext cx="532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남아공(1989)</a:t>
            </a:r>
          </a:p>
        </p:txBody>
      </p:sp>
      <p:pic>
        <p:nvPicPr>
          <p:cNvPr id="12" name="Picture 11" descr="ch_case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398" y="2359152"/>
            <a:ext cx="3900107" cy="17739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05576" y="4206240"/>
            <a:ext cx="53277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53 ± 15   ·   높음   ·   트립와이어 3종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해체 이전 시점 — 이후 역전지수로 급락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무기급 농축과 핵분열물질 트립와이어가 점등한다. 대시보드 노트가 말하는 ‘이후 급락’은 이 콘솔의 코어 위험식으로는 표현되지 않는다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4.8 트립와이어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점수와 무관하게 어떤 조건이 점등하는가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총점 순 정렬 — 한국만 완전히 비어 있고 일본은 하나가 점등한다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tripwi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094" y="2084832"/>
            <a:ext cx="7557506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32704"/>
            <a:ext cx="10874959" cy="731520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632704"/>
            <a:ext cx="54864" cy="731520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760720"/>
            <a:ext cx="104177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확장억지 행을 보라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‘확장억지 부재 + 핵적대국’이 여섯 사례에서 점등하고, 점등하지 않는 둘이 정확히 한국과 일본이다. 강한 판별자 #4가 단일 행으로 드러난 셈이다.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대시보드가 화면에서 스스로 밝히는 유보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아래 네 문장은 모두 탭 안에 그대로 적혀 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2157984"/>
            <a:ext cx="10874959" cy="731520"/>
          </a:xfrm>
          <a:prstGeom prst="rect">
            <a:avLst/>
          </a:prstGeom>
          <a:solidFill>
            <a:srgbClr val="F2F6F7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57984"/>
            <a:ext cx="64008" cy="731520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67712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예시 채점이다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249424"/>
            <a:ext cx="79488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“기본값은 북한(SIPRI 2025 · 볼트 procurement_watch 근거). 예시 채점이며 정보판단이 아니다.”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17520"/>
            <a:ext cx="1087495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64008" cy="731520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127248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인자값은 접지되어 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108960"/>
            <a:ext cx="79488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“개별 인자값은 IAEA 유효량(Pu 8 kg · HEU U-235 25 kg) · 농축 문턱 · 제도 범주에 접지한다.”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877056"/>
            <a:ext cx="10874959" cy="731520"/>
          </a:xfrm>
          <a:prstGeom prst="rect">
            <a:avLst/>
          </a:prstGeom>
          <a:solidFill>
            <a:srgbClr val="F2F6F7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877056"/>
            <a:ext cx="64008" cy="731520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86784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집계 상수는 잠정이다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3968496"/>
            <a:ext cx="79488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“집계 상수(지수·가중·게이트·CI)는 사례 순위 재현용 잠정값으로 경험적 보정(회귀·AHP·델파이)이 필요하다.”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736592"/>
            <a:ext cx="1087495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736592"/>
            <a:ext cx="64008" cy="731520"/>
          </a:xfrm>
          <a:prstGeom prst="rect">
            <a:avLst/>
          </a:prstGeom>
          <a:solidFill>
            <a:srgbClr val="C4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84632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고위험 ≠ 확산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4828032"/>
            <a:ext cx="79488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“낮은 기저율(~10–15%)로 고위험 판정이 곧 확산은 아니다 — 트리아지 지표.”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614416"/>
            <a:ext cx="10874959" cy="566928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614416"/>
            <a:ext cx="54864" cy="566928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42432"/>
            <a:ext cx="1041775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220" b="1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상세는 어디에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대시보드가 안내하는 대로 — 볼트 핵확산_위험_정량평가/의 방법론 · 인자 근거 · 수치화 근거 부속서 · 전문가 델파이 설문.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한계 · 결정적인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인접 순위 일곱 쌍 중 여섯 쌍은 구별할 수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두 사례의 95% 신뢰구간이 겹치면 그 순위는 이 모델이 판별한다고 말할 수 없다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h_rank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4" y="2011680"/>
            <a:ext cx="7447618" cy="37856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23337" y="2121408"/>
            <a:ext cx="2609990" cy="416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14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40" b="1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분해되는 인접 쌍은 남아공 &gt; 한국 하나뿐이다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14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4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이란(2025-06)·이란(타격후)·인도가 모두 70으로 동점인 것은 판별력 상실이 아니다 — 세 사례는 원래도 CI가 전부 겹쳐 순위를 주장할 수 없었다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14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4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따라서 방어 가능한 산출물은 ‘어느 구간에 속하는가’이지 ‘몇 위인가’가 아니다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이 콘솔이 주는 것과 주지 않는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구현된 범위 안에서의 정직한 정리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084832"/>
            <a:ext cx="52743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주는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32304"/>
            <a:ext cx="5274355" cy="3858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축을 직교화하고 곱셈으로 합치는 구조 — 역량 단독 오탐을 막는 설계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관측을 점수가 아니라 구간에 연결하는 규칙 — 이란 두 프리셋이 시연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총점과 독립적인 트립와이어 6종 — 일본 사례가 그 필요를 보여준다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15개 슬라이더로 가정을 직접 흔들어 볼 수 있는 시연 환경 — 판정 기준이 화면에 내장돼 있다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강한 판별자 7종 — 무엇을 먼저 수집할지의 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8972" y="2084832"/>
            <a:ext cx="52743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주지 않는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8972" y="2432304"/>
            <a:ext cx="5274355" cy="3858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보정된 상수 — 지수·가중·게이트·CI가 모두 잠정값이다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절대 점수의 의미 — 99와 88의 차이가 실제 위험의 비율은 아니다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예측 — 트리아지 지표이지 확산 예측기가 아니다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1" i="0">
                <a:solidFill>
                  <a:srgbClr val="C4813A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22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정책 결론 — 화면이 명시하듯 정보판단의 근거가 아니다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681728"/>
            <a:ext cx="10874959" cy="914400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681728"/>
            <a:ext cx="54864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809744"/>
            <a:ext cx="10417759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한 문장으로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이 콘솔의 가치는 점수가 아니라 구조다 — 무엇을 곱하고, 무엇을 게이트로 두고, 불확실성을 어디에 실을지를 눈으로 확인시켜 준다. 그 구조는 지금 쓸 수 있고, 그 위의 상수는 보정을 거쳐야 쓸 수 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확산위험 정량평가 콘솔 — yongbyon.html · prolif 탭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이 발표의 수치는 콘솔을 그대로 재현한 것이다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5024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680"/>
                </a:solidFill>
                <a:latin typeface="맑은 고딕"/>
                <a:ea typeface="맑은 고딕"/>
                <a:cs typeface="맑은 고딕"/>
              </a:rPr>
              <a:t>대시보드 JS를 파이썬으로 이식해 계산했고, 8개 프리셋 전량을 실었다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24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103120"/>
          <a:ext cx="10874954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865"/>
                <a:gridCol w="1155464"/>
                <a:gridCol w="1699212"/>
                <a:gridCol w="1155464"/>
                <a:gridCol w="951558"/>
                <a:gridCol w="951558"/>
                <a:gridCol w="951558"/>
                <a:gridCol w="156327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사례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CI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트립와이어</a:t>
                      </a:r>
                    </a:p>
                  </a:txBody>
                  <a:tcPr marL="82296" marR="82296" marT="27432" marB="27432" anchor="ctr">
                    <a:solidFill>
                      <a:srgbClr val="1B3A5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북한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80–100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파키스탄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75–100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심각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4종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이란(2025-06)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53–87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이란(타격후)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47–93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4종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59–81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남아공(1989)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38–68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3종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6–28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일본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7–21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2C35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1종</a:t>
                      </a:r>
                    </a:p>
                  </a:txBody>
                  <a:tcPr marL="82296" marR="82296" marT="27432" marB="27432" anchor="ctr"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5431536"/>
            <a:ext cx="10874959" cy="859536"/>
          </a:xfrm>
          <a:prstGeom prst="rect">
            <a:avLst/>
          </a:prstGeom>
          <a:solidFill>
            <a:srgbClr val="F2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431536"/>
            <a:ext cx="54864" cy="859536"/>
          </a:xfrm>
          <a:prstGeom prst="rect">
            <a:avLst/>
          </a:prstGeom>
          <a:solidFill>
            <a:srgbClr val="2E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559552"/>
            <a:ext cx="104177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D8F"/>
                </a:solidFill>
                <a:latin typeface="맑은 고딕"/>
                <a:ea typeface="맑은 고딕"/>
                <a:cs typeface="맑은 고딕"/>
              </a:rPr>
              <a:t>재현 방법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540"/>
                </a:solidFill>
                <a:latin typeface="맑은 고딕"/>
                <a:ea typeface="맑은 고딕"/>
                <a:cs typeface="맑은 고딕"/>
              </a:rPr>
              <a:t>_build/prolif_model.py가 extra-tabs.html의 computeRisk()·tripwires()를 연산 순서까지 그대로 옮긴 것이고, _build/verify_model.py가 그 이식을 검증한다. 발표 수치를 바꾸려면 그 검증을 먼저 통과시켜야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